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8f573510d34ef5" /><Relationship Type="http://schemas.openxmlformats.org/officeDocument/2006/relationships/extended-properties" Target="/docProps/app.xml" Id="Re5c389e6bd71478a" /><Relationship Type="http://schemas.openxmlformats.org/officeDocument/2006/relationships/officeDocument" Target="/ppt/presentation.xml" Id="R7085bb6d6c0b42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a54d20abda4840"/>
  </p:sldMasterIdLst>
  <p:notesMasterIdLst>
    <p:notesMasterId xmlns:r="http://schemas.openxmlformats.org/officeDocument/2006/relationships" r:id="R12f0318039e74ae3"/>
  </p:notesMasterIdLst>
  <p:sldIdLst>
    <p:sldId xmlns:r="http://schemas.openxmlformats.org/officeDocument/2006/relationships" id="256" r:id="Rb65c4e244920481c"/>
    <p:sldId xmlns:r="http://schemas.openxmlformats.org/officeDocument/2006/relationships" id="257" r:id="R759d98f8cdef4bbf"/>
    <p:sldId xmlns:r="http://schemas.openxmlformats.org/officeDocument/2006/relationships" id="258" r:id="R0aebb07c00854e91"/>
    <p:sldId xmlns:r="http://schemas.openxmlformats.org/officeDocument/2006/relationships" id="259" r:id="Rf80fdf1da9ba4ea4"/>
    <p:sldId xmlns:r="http://schemas.openxmlformats.org/officeDocument/2006/relationships" id="260" r:id="Rf986630cfb424637"/>
    <p:sldId xmlns:r="http://schemas.openxmlformats.org/officeDocument/2006/relationships" id="261" r:id="R01fe46ada0094868"/>
    <p:sldId xmlns:r="http://schemas.openxmlformats.org/officeDocument/2006/relationships" id="262" r:id="R56c69e5e6dc84a4d"/>
    <p:sldId xmlns:r="http://schemas.openxmlformats.org/officeDocument/2006/relationships" id="263" r:id="Rfebc7870e7714350"/>
    <p:sldId xmlns:r="http://schemas.openxmlformats.org/officeDocument/2006/relationships" id="264" r:id="Ra3a56cc85e2f4daa"/>
    <p:sldId xmlns:r="http://schemas.openxmlformats.org/officeDocument/2006/relationships" id="265" r:id="Rf965fb7f0b644d4f"/>
    <p:sldId xmlns:r="http://schemas.openxmlformats.org/officeDocument/2006/relationships" id="266" r:id="R762a81b352a14b8c"/>
    <p:sldId xmlns:r="http://schemas.openxmlformats.org/officeDocument/2006/relationships" id="267" r:id="R73d1eb00898a4d2d"/>
    <p:sldId xmlns:r="http://schemas.openxmlformats.org/officeDocument/2006/relationships" id="268" r:id="Rb33ae401f7fc4a80"/>
    <p:sldId xmlns:r="http://schemas.openxmlformats.org/officeDocument/2006/relationships" id="269" r:id="Rc6279abd56ee45b9"/>
    <p:sldId xmlns:r="http://schemas.openxmlformats.org/officeDocument/2006/relationships" id="270" r:id="R92d676e74d534e2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220254f6854d1e" /><Relationship Type="http://schemas.openxmlformats.org/officeDocument/2006/relationships/slideMaster" Target="/ppt/slideMasters/slideMaster1.xml" Id="R5fa54d20abda4840" /><Relationship Type="http://schemas.openxmlformats.org/officeDocument/2006/relationships/notesMaster" Target="/ppt/notesMasters/notesMaster1.xml" Id="R12f0318039e74ae3" /><Relationship Type="http://schemas.openxmlformats.org/officeDocument/2006/relationships/presProps" Target="/ppt/presProps.xml" Id="R2c90c5c3117840ec" /><Relationship Type="http://schemas.openxmlformats.org/officeDocument/2006/relationships/viewProps" Target="/ppt/viewProps.xml" Id="R517f8dfff6d4422c" /><Relationship Type="http://schemas.openxmlformats.org/officeDocument/2006/relationships/tableStyles" Target="/ppt/tableStyles.xml" Id="R64c49e0df30d4c52" /><Relationship Type="http://schemas.openxmlformats.org/officeDocument/2006/relationships/slide" Target="/ppt/slides/slide1.xml" Id="Rb65c4e244920481c" /><Relationship Type="http://schemas.openxmlformats.org/officeDocument/2006/relationships/slide" Target="/ppt/slides/slide2.xml" Id="R759d98f8cdef4bbf" /><Relationship Type="http://schemas.openxmlformats.org/officeDocument/2006/relationships/slide" Target="/ppt/slides/slide3.xml" Id="R0aebb07c00854e91" /><Relationship Type="http://schemas.openxmlformats.org/officeDocument/2006/relationships/slide" Target="/ppt/slides/slide4.xml" Id="Rf80fdf1da9ba4ea4" /><Relationship Type="http://schemas.openxmlformats.org/officeDocument/2006/relationships/slide" Target="/ppt/slides/slide5.xml" Id="Rf986630cfb424637" /><Relationship Type="http://schemas.openxmlformats.org/officeDocument/2006/relationships/slide" Target="/ppt/slides/slide6.xml" Id="R01fe46ada0094868" /><Relationship Type="http://schemas.openxmlformats.org/officeDocument/2006/relationships/slide" Target="/ppt/slides/slide7.xml" Id="R56c69e5e6dc84a4d" /><Relationship Type="http://schemas.openxmlformats.org/officeDocument/2006/relationships/slide" Target="/ppt/slides/slide8.xml" Id="Rfebc7870e7714350" /><Relationship Type="http://schemas.openxmlformats.org/officeDocument/2006/relationships/slide" Target="/ppt/slides/slide9.xml" Id="Ra3a56cc85e2f4daa" /><Relationship Type="http://schemas.openxmlformats.org/officeDocument/2006/relationships/slide" Target="/ppt/slides/slide10.xml" Id="Rf965fb7f0b644d4f" /><Relationship Type="http://schemas.openxmlformats.org/officeDocument/2006/relationships/slide" Target="/ppt/slides/slide11.xml" Id="R762a81b352a14b8c" /><Relationship Type="http://schemas.openxmlformats.org/officeDocument/2006/relationships/slide" Target="/ppt/slides/slide12.xml" Id="R73d1eb00898a4d2d" /><Relationship Type="http://schemas.openxmlformats.org/officeDocument/2006/relationships/slide" Target="/ppt/slides/slide13.xml" Id="Rb33ae401f7fc4a80" /><Relationship Type="http://schemas.openxmlformats.org/officeDocument/2006/relationships/slide" Target="/ppt/slides/slide14.xml" Id="Rc6279abd56ee45b9" /><Relationship Type="http://schemas.openxmlformats.org/officeDocument/2006/relationships/slide" Target="/ppt/slides/slide15.xml" Id="R92d676e74d534e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c913eb0b3446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e460da2a824efa" /><Relationship Type="http://schemas.openxmlformats.org/officeDocument/2006/relationships/notesMaster" Target="/ppt/notesMasters/notesMaster1.xml" Id="Rbe5a34c6aef34e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a42c9623df452d" /><Relationship Type="http://schemas.openxmlformats.org/officeDocument/2006/relationships/notesMaster" Target="/ppt/notesMasters/notesMaster1.xml" Id="Rffab8f5201ab47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50610e19204044" /><Relationship Type="http://schemas.openxmlformats.org/officeDocument/2006/relationships/notesMaster" Target="/ppt/notesMasters/notesMaster1.xml" Id="R2deb1d51c09447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46861d15d94cbe" /><Relationship Type="http://schemas.openxmlformats.org/officeDocument/2006/relationships/notesMaster" Target="/ppt/notesMasters/notesMaster1.xml" Id="R1d519fdd8e2646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3b45476f114e9b" /><Relationship Type="http://schemas.openxmlformats.org/officeDocument/2006/relationships/notesMaster" Target="/ppt/notesMasters/notesMaster1.xml" Id="R8fb86284bef349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27ed8d3b514db7" /><Relationship Type="http://schemas.openxmlformats.org/officeDocument/2006/relationships/notesMaster" Target="/ppt/notesMasters/notesMaster1.xml" Id="Ra39eb5ca0ed742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29761856be48f8" /><Relationship Type="http://schemas.openxmlformats.org/officeDocument/2006/relationships/notesMaster" Target="/ppt/notesMasters/notesMaster1.xml" Id="R468dc8ce672344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40c2196d6240b0" /><Relationship Type="http://schemas.openxmlformats.org/officeDocument/2006/relationships/notesMaster" Target="/ppt/notesMasters/notesMaster1.xml" Id="R93932a1f04ae4f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a0490207a74a46" /><Relationship Type="http://schemas.openxmlformats.org/officeDocument/2006/relationships/notesMaster" Target="/ppt/notesMasters/notesMaster1.xml" Id="Rb2648e0c4fff43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df8f856e91445b" /><Relationship Type="http://schemas.openxmlformats.org/officeDocument/2006/relationships/notesMaster" Target="/ppt/notesMasters/notesMaster1.xml" Id="R3554311129924a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316ad8f510439b" /><Relationship Type="http://schemas.openxmlformats.org/officeDocument/2006/relationships/notesMaster" Target="/ppt/notesMasters/notesMaster1.xml" Id="R5c56af71797749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cd11fcfb494086" /><Relationship Type="http://schemas.openxmlformats.org/officeDocument/2006/relationships/notesMaster" Target="/ppt/notesMasters/notesMaster1.xml" Id="Ra3f28eca07e145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490df463f9468c" /><Relationship Type="http://schemas.openxmlformats.org/officeDocument/2006/relationships/notesMaster" Target="/ppt/notesMasters/notesMaster1.xml" Id="R649f9737b2a147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5e4fb41fa24ad9" /><Relationship Type="http://schemas.openxmlformats.org/officeDocument/2006/relationships/notesMaster" Target="/ppt/notesMasters/notesMaster1.xml" Id="Rc28af4a9fd6a4c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d9c1ce2a734610" /><Relationship Type="http://schemas.openxmlformats.org/officeDocument/2006/relationships/notesMaster" Target="/ppt/notesMasters/notesMaster1.xml" Id="R4c03b20b0d9541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MediLink como proyecto de investigación aplicada. Aclarar desde el inicio que la demostración funcional corresponde al perfil paciente.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Enfatizar que el problema no es solo reservar una cita: es la falta de integración de todo el recorrido del paciente.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el documento conceptual contempla tres perfiles, pero el entregable funcional evaluado se concentra en paciente.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cada requisito con una parte de la demo. No leer la lista completa; explicar el recorrido.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diapositiva como puente hacia la arquitectura y posteriormente hacia la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separación de responsabilidades. Destacar que Dialogflow y los PDFs se consumen únicamente mediante el 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tabla resume la evaluación del capítulo II. No afirmar que una herramienta es universalmente mejor; explicar que fue adecuada para MediLink.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cronograma original cubre el sistema completo. Para la sustentación actual, el incremento terminado es el perfil paciente.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Iniciar la demostración desde el panel principal. Señalar navegación, próxima cita y acceso al perfil.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Durante la demo, reservar una cita y mostrar que los horarios ocupados no se duplican. Luego mostrar reprogramación o cancelación.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bloqueo no es solo visual: el backend ignora modificaciones manuales a identidad.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remarcando el incremento funcional entregado y la ruta de evolución. Luego pasar a preguntas y usar los anexos cuando corresponda.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Anexo para preguntas sobre diagnóstico del problema. Las categorías resumen el Ishikawa incluido en la tesis.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Anexo para explicar relaciones principales. El ERD completo también incluye administradores, especialidades, notificaciones y consultas del chatbot.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Anexo para responder preguntas sobre casos de uso, épicas y proceso de reserva.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f438831e64f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d53147382740c2" /><Relationship Type="http://schemas.openxmlformats.org/officeDocument/2006/relationships/slideLayout" Target="/ppt/slideLayouts/slideLayout1.xml" Id="Raeedbee9e3ff49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edbee9e3ff49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14591e82b4f8f" /><Relationship Type="http://schemas.openxmlformats.org/officeDocument/2006/relationships/notesSlide" Target="/ppt/notesSlides/notesSlide1.xml" Id="Rd25111d43d9347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a9469c62346c6" /><Relationship Type="http://schemas.openxmlformats.org/officeDocument/2006/relationships/notesSlide" Target="/ppt/notesSlides/notesSlide2.xml" Id="Recf9a5a7d52b45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26dd4a96b4f29" /><Relationship Type="http://schemas.openxmlformats.org/officeDocument/2006/relationships/notesSlide" Target="/ppt/notesSlides/notesSlide3.xml" Id="Rce1585756e6a44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6ece6332243ea" /><Relationship Type="http://schemas.openxmlformats.org/officeDocument/2006/relationships/notesSlide" Target="/ppt/notesSlides/notesSlide4.xml" Id="Rd48df1c93ff94d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a3f4ab422416c" /><Relationship Type="http://schemas.openxmlformats.org/officeDocument/2006/relationships/notesSlide" Target="/ppt/notesSlides/notesSlide5.xml" Id="R3c932e0f237a40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69fa21c724509" /><Relationship Type="http://schemas.openxmlformats.org/officeDocument/2006/relationships/notesSlide" Target="/ppt/notesSlides/notesSlide6.xml" Id="Rb51bbac7849a43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6aa6cd51d4063" /><Relationship Type="http://schemas.openxmlformats.org/officeDocument/2006/relationships/notesSlide" Target="/ppt/notesSlides/notesSlide7.xml" Id="R629ae93bd5f543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7575884ff4cdb" /><Relationship Type="http://schemas.openxmlformats.org/officeDocument/2006/relationships/notesSlide" Target="/ppt/notesSlides/notesSlide8.xml" Id="Ree8012614f8d48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8ff83f4ad4f0d" /><Relationship Type="http://schemas.openxmlformats.org/officeDocument/2006/relationships/image" Target="/ppt/media/image.png" Id="R15a3e4822966426a" /><Relationship Type="http://schemas.openxmlformats.org/officeDocument/2006/relationships/notesSlide" Target="/ppt/notesSlides/notesSlide9.xml" Id="R796046d33deb42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53b5dad8c45aa" /><Relationship Type="http://schemas.openxmlformats.org/officeDocument/2006/relationships/image" Target="/ppt/media/image2.png" Id="R14f8d6f627434f6a" /><Relationship Type="http://schemas.openxmlformats.org/officeDocument/2006/relationships/notesSlide" Target="/ppt/notesSlides/notesSlide10.xml" Id="Re4881cfba30c41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420b271af4af2" /><Relationship Type="http://schemas.openxmlformats.org/officeDocument/2006/relationships/image" Target="/ppt/media/image3.png" Id="Rce9db9e3ab6841bb" /><Relationship Type="http://schemas.openxmlformats.org/officeDocument/2006/relationships/notesSlide" Target="/ppt/notesSlides/notesSlide11.xml" Id="R42a36ad41eff40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9f48bb9fe4d2b" /><Relationship Type="http://schemas.openxmlformats.org/officeDocument/2006/relationships/notesSlide" Target="/ppt/notesSlides/notesSlide12.xml" Id="R6517965c887149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5b9e1da1648e2" /><Relationship Type="http://schemas.openxmlformats.org/officeDocument/2006/relationships/notesSlide" Target="/ppt/notesSlides/notesSlide13.xml" Id="R1969204405d74a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5aecca85b4b6b" /><Relationship Type="http://schemas.openxmlformats.org/officeDocument/2006/relationships/notesSlide" Target="/ppt/notesSlides/notesSlide14.xml" Id="Rc4814622b15b458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1d22affdd4ec6" /><Relationship Type="http://schemas.openxmlformats.org/officeDocument/2006/relationships/notesSlide" Target="/ppt/notesSlides/notesSlide15.xml" Id="R61951bd59b464d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B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DFE2B9-B7B4-47E2-9E67-B8BC278A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BD9E9-D1D8-4580-BFF4-40408EBE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419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CC78D-F243-4A50-9AD7-7AAC9472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26670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68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CC901-7628-4E4D-8619-F52BBA58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3000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5A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9D0B2-8C11-406B-AD17-3A55E71C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2771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8EE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EEFF"/>
                </a:solidFill>
                <a:latin typeface="Aptos"/>
                <a:ea typeface="Aptos"/>
                <a:cs typeface="Aptos"/>
              </a:rPr>
              <a:t>PROYECTO DE INVESTIGACIÓN APLICADA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31ECE-8860-4677-B35A-B85BA8F2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MediLink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46206-20DB-4F52-BFE7-BCEC9A71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AF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D8EAF7"/>
                </a:solidFill>
                <a:latin typeface="Aptos"/>
                <a:ea typeface="Aptos"/>
                <a:cs typeface="Aptos"/>
              </a:rPr>
              <a:t>Sistema de gestión para clínicas y consultorios médicos con asistente virtual inteligente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71B1B-59F6-4B09-8004-CE1A6D7F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E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F08DA-E1A8-46AD-A75E-A4CA0BE5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Yashira Massiel Rojas Alarcón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C9062-F590-4CDE-B3D7-6FB9CBFF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9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FD9EB"/>
                </a:solidFill>
                <a:latin typeface="Aptos"/>
                <a:ea typeface="Aptos"/>
                <a:cs typeface="Aptos"/>
              </a:rPr>
              <a:t>Diseño y Desarrollo de Software · TECSUP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19ED7-3839-4EF3-8971-BDC898EC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476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D9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FD9EB"/>
                </a:solidFill>
                <a:latin typeface="Aptos"/>
                <a:ea typeface="Aptos"/>
                <a:cs typeface="Aptos"/>
              </a:rPr>
              <a:t>Asesor: Juan León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23049-7104-468A-BB08-7A1B3372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8637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Perfil demostrado: Paciente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C1965-C008-4320-BEB8-4BF51AB6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197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8EA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EAF7"/>
                </a:solidFill>
                <a:latin typeface="Aptos"/>
                <a:ea typeface="Aptos"/>
                <a:cs typeface="Aptos"/>
              </a:rPr>
              <a:t>Aplicación web funcional</a:t>
            </a:r>
          </a:p>
        </p:txBody>
      </p:sp>
    </p:spTree>
    <p:extLst>
      <p:ext uri="{BB962C8B-B14F-4D97-AF65-F5344CB8AC3E}">
        <p14:creationId xmlns:p14="http://schemas.microsoft.com/office/powerpoint/2010/main" val="347827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A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47C925-1CAD-47E0-88F3-D3A250C2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DB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DBA"/>
                </a:solidFill>
                <a:latin typeface="Aptos"/>
                <a:ea typeface="Aptos"/>
                <a:cs typeface="Aptos"/>
              </a:rPr>
              <a:t>PROBLEMÁTICA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4390C-E7FC-47D0-A88D-516A69A3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La atención fragmentada genera demoras y pérdida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2BADC-D311-4C27-A57C-24BEC5E7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F3C64-2898-4EBA-B295-2E793769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476750" cy="4238625"/>
          </a:xfrm>
          <a:prstGeom xmlns:a="http://schemas.openxmlformats.org/drawingml/2006/main" prst="roundRect">
            <a:avLst>
              <a:gd name="adj" fmla="val 4944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9525">
            <a:solidFill>
              <a:srgbClr val="0B2B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4F29E-6E26-4D90-9C1C-DEEE1E99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Situación observada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5069E-943D-4444-A841-AC6CB1DC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3476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E8F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6E8F6"/>
                </a:solidFill>
                <a:latin typeface="Aptos"/>
                <a:ea typeface="Aptos"/>
                <a:cs typeface="Aptos"/>
              </a:rPr>
              <a:t>Consultorios pequeños y medianos dependen de llamadas, agendas manuales y documentos dispersos.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F702D-6FFD-442E-8448-0082CE05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0477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A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A7D50-CEEE-47D4-B40E-33B0CC62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CC8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CC8E7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284B6-AE80-498B-8D80-AD2C57A7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3476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Menor trazabilidad, más carga administrativa y una experiencia deficiente para el paciente.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EF92A-1911-4C60-9953-11D4989C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3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21555-82B0-43E4-97A1-ACB545BE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811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3C4B6-FDCA-4D21-82EB-F7DE9926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47825"/>
            <a:ext cx="4476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Reserva manual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851DE-A4BC-4A23-928B-D00935B6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66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Confusión, cruces de horario y espera innecesaria.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05DE8-8B8D-4AA6-89E3-089E0963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9557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FCAEE-5BA6-4A1D-B080-05FF4235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098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EABA9-DBEB-4D00-99CE-D07E3081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4476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Historial disperso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E07CD-1774-4F39-B5F5-DD1C20DA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466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Acceso lento a antecedentes, recetas y resultados.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609F2-175C-4193-A170-A84F67AD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2427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425052-17D1-44C7-AF4D-C08EA8D3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385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792637-813B-4480-A9E9-DB00257A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05225"/>
            <a:ext cx="4476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Sin orientación digital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A46BEA-E06D-4E69-A01C-9D7A4DA6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466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El paciente no sabe cómo prepararse o qué especialidad elegir.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AEB65B-A121-4FF4-B43E-9C4AE4D7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5297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3C7887-4271-41A3-9A08-B4E303D4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672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4F4473-1C84-44F1-9DD8-1E80172B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33925"/>
            <a:ext cx="4476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Seguimiento limitado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44DB02-0EE1-4903-88A7-00C95185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38725"/>
            <a:ext cx="4667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No existen recordatorios ni acceso posterior a documentos.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3FDA63-FA8F-47D4-8F21-6C19C1CE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Fuente: Tesis MediLink, capítulo 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A8C3BC-B0DC-4790-B29E-C66F7C78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6063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3F787B-A3DD-4406-8843-FFF4F0B7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DB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DBA"/>
                </a:solidFill>
                <a:latin typeface="Aptos"/>
                <a:ea typeface="Aptos"/>
                <a:cs typeface="Aptos"/>
              </a:rPr>
              <a:t>OBJETIVO Y ALCANCE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4F7DD-0BE3-45C2-B38C-D9E2B9AB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Centralizar el recorrido del paciente en una sola plataforma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8977A-DBFA-4010-BC16-8EC732BE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FBCA8-8CE7-4C53-85AD-322004E2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EAF4F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807C4-B60C-4D5B-8540-8F425AD6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D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7DBA"/>
                </a:solidFill>
                <a:latin typeface="Aptos"/>
                <a:ea typeface="Aptos"/>
                <a:cs typeface="Aptos"/>
              </a:rPr>
              <a:t>OBJETIVO GENERAL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FBC32-2B64-4D3A-AAEA-E2292FF8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Desarrollar una aplicación web que integre citas, historial, documentos médicos, notificaciones y orientación inteligente.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4D103-A320-46B7-AF4C-4C4FA29C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42900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9E942-B45F-4D1C-B453-2D0A0F7F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Alcance funcional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1B27B-8A91-4A8E-BF25-66F0A286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D4827-F5A5-40FE-B334-2A363CD1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Registro y autenticación segura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D17B3-B3C2-4B88-B63E-810D251D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EF76F-E145-4172-88E7-14AF2263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Reserva, cancelación y reprogramación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6D75C-281A-4A82-8AE9-58A16CDA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52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2CDED-A5A7-4CBC-A4E1-9F03501C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Historial, recetas y resultados PDF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233BC9-1EB8-4331-9639-CE105A5D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78064-5248-40F5-B4BD-C270D9CD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53025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Notificaciones y asistente virtual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3F784-5353-49A1-AB50-5D2BD27E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48000"/>
            <a:ext cx="342900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F27167-9B9A-4F2E-BCAD-C4F043C1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9565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Alcance actual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B1963-FE74-48BB-AC51-20441490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9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B948D-9E05-409F-AE02-218BA48F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528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Perfil paciente 100% funcional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B7BDD6-8325-4230-9BA4-88603F95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C89B18-60F6-48C1-ADAC-FFF7870E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9575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Aplicación web responsive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A23E8-C936-4F72-9ACA-361E716A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52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DFB196-0841-4433-90AF-27FCA005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Backend y base de datos reales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B5C13F-73E8-4E20-8B01-870C014A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19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9DC507-08F6-41FA-BC66-953A6BA9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53025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Dialogflow integrado desde el servidor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9A7E7A-3663-4D13-BF5C-776A35D3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48000"/>
            <a:ext cx="342900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F4D8B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69D4E5-ED3B-4E3A-A269-04F08FDA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9565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6A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66A16"/>
                </a:solidFill>
                <a:latin typeface="Aptos"/>
                <a:ea typeface="Aptos"/>
                <a:cs typeface="Aptos"/>
              </a:rPr>
              <a:t>Fuera de alcance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047553-BD9F-4AFF-9EB8-5EF248D1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9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8B88D7-A739-4FDF-A753-43DFB6EC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528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Videollamadas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F0CF76-F4C8-404F-915C-A976787A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AA2E71-50E0-4423-AB60-CF87F20F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19575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Validez legal DIGEMID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1371B6-31C1-4AB8-BB5E-0706DAC5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52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7964C7-60BA-4512-914D-61C58D9B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Integración hospitalaria externa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B1DA7C-C7DE-442B-BC19-C5861BEF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9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50F3EB-9940-48A7-BB96-0822C3DC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53025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Despliegue en hospitales nacionales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AA927E-3360-423A-BC41-58B8B6A1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MediLink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98E320-936A-46C5-8841-0BFFCE89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7643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A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A9986C-AE65-4BA1-92B1-6E4E7C9C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DB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DBA"/>
                </a:solidFill>
                <a:latin typeface="Aptos"/>
                <a:ea typeface="Aptos"/>
                <a:cs typeface="Aptos"/>
              </a:rPr>
              <a:t>REQUERIMIENTOS PRINCIPALES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53899-B405-4026-9C72-1A8A25DF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Los requerimientos forman un flujo completo, no funciones aisladas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0E0FC-66F1-47D3-83CC-99FB0389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DCC7E-88C3-4AA4-9DFF-D888071F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1816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E9A80-19C5-4A77-ACD8-4CA0AD6C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4307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D42F9-FB98-4895-92C7-7D879460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57E9B-81ED-47CE-A5C1-F404B213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7145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Cuenta segura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081CA-BF39-4567-9EAB-45877100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574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Registro, login JWT, recuperación y cambio de contraseña.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30724-492D-4179-BAE9-51A6A12A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51816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7112C-D086-44C9-80C7-B93BC453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4307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6B830-92D1-4AEE-9A8D-BD4D5E5F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530A2-6D77-4B77-ABCF-F2FA087F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7145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Gestión de citas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B5AA3-5DF6-443C-85D9-78A33C89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574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Consultar disponibilidad, reservar, cancelar y reprogramar.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979BE-9F78-4114-A844-8045713F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1816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9803A1-B88D-4822-AE9F-67E653C1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1EDD2-B977-4009-84DD-95085815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3AF3E-DC98-4CFA-8CA7-6AF4EB55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43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Información clínica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3DB8D-2AB0-4FA3-AE51-AB68665E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861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Consultar historial, recetas, resultados y descargar PDF.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8DD54-FAB5-4EC5-83D2-AADF5261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51816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5F2839-0569-42C9-B40E-CC1363E3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718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C169BA-C1C5-45B6-972B-1AFD50EF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861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3FEE0D-3010-4C2A-BE70-F38CC360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Seguimiento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3D55FE-876C-4A42-B0D6-79994471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861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Notificaciones, recordatorios automáticos y estados de cita.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DFB6B1-2C1E-4328-9EF3-2B9226BE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51816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6EB0B1-58F8-48FD-BA7A-C436884C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8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03DDFE-FB06-483E-9D93-6810A405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D46A04-601B-4A28-B743-BC4E2A17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Asistente 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642F64-101A-4B4E-BA68-02EDA34C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Orientación general con Dialogflow y límites clínicos.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8C4BB9-67B0-4EDB-8FC2-1AAFB8DD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51816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E7DCC1-F056-4781-A31E-F9E2A4F9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0057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8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D88A24-8278-4ED6-B1AD-1E608E98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148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3E557E-C369-45CB-A172-F66D1B17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720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Perfil protegido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3520E4-CDFB-416D-921A-500FBE67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149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Identidad bloqueada; correo, teléfono y dirección editables.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046685-A561-4EA8-903B-6B04FA1C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MediLink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B15FD3-20EB-46E3-A66A-1F2FDC5F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101587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54AB0B-4E4E-480E-B5FE-23F52CA5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DB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DBA"/>
                </a:solidFill>
                <a:latin typeface="Aptos"/>
                <a:ea typeface="Aptos"/>
                <a:cs typeface="Aptos"/>
              </a:rPr>
              <a:t>FLUJO DE LA SOLUCIÓN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3CCDA-D4CA-4839-BC48-2D480309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El paciente gestiona su atención antes, durante y después de la cita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CB0F1-AB47-4807-8B76-65093CF5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9CD49-D236-41B1-877E-3BBFA661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1866900" cy="21907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5FAFE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97B56-983A-4B31-B956-090B202B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33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27CBC-68A1-432E-AA07-381A11DB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479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0118F-9C68-40EF-BA28-D66F5F0F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Acceso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24097-5424-44C6-8046-C597DB24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Registro e inicio de sesión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73CE5-DBE2-449A-847E-BD3B418A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1866900" cy="21907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5FAFE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E8B9B-0E4E-4694-8C7B-C3598551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3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8AEB8-EDDE-49F2-A9A7-78F54E42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479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2B7E5-FBDF-4B2F-B354-38C93897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480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Orientación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95792-FC12-49FB-AFB9-B9A9734A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4805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Asistente y especialidad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11230-9742-422B-8233-F8B1F1E4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95500"/>
            <a:ext cx="1866900" cy="21907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5FAFE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A4079-E775-4F92-AF8F-CE245431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C07AA-7C3B-4515-B43F-823BDB5D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479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D70EC-9A48-484C-9B1F-ACEADEE2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480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Reserva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569453-D7E8-458E-9C56-EAFC55F2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4805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Médico, fecha y horario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4203E-BAEA-46E8-A0D4-160EB77B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1866900" cy="21907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5FAFE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58848-7CEB-4371-8C0A-2C325C6E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33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A78AAD-BD22-402F-B15C-FDA6A985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479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5BC159-DD92-4663-B109-C0E7F858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480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Seguimiento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776D2E-5052-4836-BD1C-1E07A7B3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4805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Estados y recordatorios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A5CD27-7B93-4BF7-B022-89D9D55B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95500"/>
            <a:ext cx="1866900" cy="21907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A9DC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D2B1E0-8799-4069-AF5B-86C19FE0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333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8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22DFA3-AA0A-4E40-AF86-9BFD83F1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4479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F75B74-55B2-4E7F-95E1-2C0218DF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480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Postconsulta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9326D5-6DA3-437A-9848-3A30D529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4805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Historial y documentos PDF</a:t>
            </a:r>
          </a:p>
        </p:txBody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81250" y="31908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AA5D8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686300" y="31908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AA5D8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991350" y="31908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AA5D8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9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296400" y="31908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AA5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7C1022-E1EA-4FC4-935D-3544A185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0125"/>
            <a:ext cx="81915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9525">
            <a:solidFill>
              <a:srgbClr val="0B2B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A09419-D126-4529-A8EB-E35EC563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292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8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C8E7"/>
                </a:solidFill>
                <a:latin typeface="Aptos"/>
                <a:ea typeface="Aptos"/>
                <a:cs typeface="Aptos"/>
              </a:rPr>
              <a:t>Valor generado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544721-D5E4-46C6-9445-6D6C1DC6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14900"/>
            <a:ext cx="609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Autonomía para el paciente + trazabilidad para el consultorio + menor carga administrativa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DAE9E3-8026-4DED-A863-445B7EB4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MediLink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8227DB-DB2D-4E66-922D-5D34CEF0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040516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A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A9D0A0-B331-484B-8816-0E3EC57D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DB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DBA"/>
                </a:solidFill>
                <a:latin typeface="Aptos"/>
                <a:ea typeface="Aptos"/>
                <a:cs typeface="Aptos"/>
              </a:rPr>
              <a:t>ARQUITECTURA DE DESPLIEGUE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AD803-9505-4454-A52F-01E56A69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Arquitectura de tres capas con integración segura de Dialogflow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FDDCB-921A-4BD1-99AD-60688690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941AB-71B3-4105-80E0-A69722D0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571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F0B12-6484-40DC-8763-588C6541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EA4F5-1A75-4758-A0F1-45202AD7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247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Navegador del paciente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D951E-6AAB-4394-86A4-8C12362A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247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Interfaz React + Vite</a:t>
            </a:r>
          </a:p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Diseño responsive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46A1E-4D25-4486-8AC8-5D900470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2571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54C37-32F4-4F2A-BC03-6239304B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E3A4D-BF24-4012-846F-42A76714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114550"/>
            <a:ext cx="2247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API MediLink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83E9A-4C23-4FC6-97A6-188B9710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19350"/>
            <a:ext cx="2247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Node.js + Express</a:t>
            </a:r>
          </a:p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Autenticación JWT</a:t>
            </a:r>
          </a:p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Reglas de negocio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F24BA-CB9A-442E-8AE4-9E9EBAF5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28750"/>
            <a:ext cx="2571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13AE6-7585-41DA-BFE8-C5427DF3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2875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8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AC79A-324F-4B0F-8CBF-3C28A3BC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590675"/>
            <a:ext cx="2247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Base de datos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F17FC-9A5D-40EC-990D-1CFB7B82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95475"/>
            <a:ext cx="2247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MySQL 8</a:t>
            </a:r>
          </a:p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Usuarios, citas, historial,</a:t>
            </a:r>
          </a:p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recetas y notificaciones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197B3-479E-4389-9A65-EED0848F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86125"/>
            <a:ext cx="2571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53582-6DE0-4FB0-BA64-01BD4826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86125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C0818-5831-4548-8A68-37DC44D8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48050"/>
            <a:ext cx="2247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Documentos privados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1DFED7-E4D6-46BC-BEE2-9622FCE6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52850"/>
            <a:ext cx="2247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PDF médicos protegidos</a:t>
            </a:r>
          </a:p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por autorización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27F7B-02F7-4E8C-8EED-09B328E4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19625"/>
            <a:ext cx="2571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E5618-0B90-4C82-96C1-CDE96ABD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19625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A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45FD6F-AD48-4BB5-99DF-1CF04E59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781550"/>
            <a:ext cx="2247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Dialogflow 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1CFB78-46B6-42EE-ADAD-E3340248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086350"/>
            <a:ext cx="2247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Procesamiento de lenguaje natural</a:t>
            </a:r>
          </a:p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Credenciales solo en backend</a:t>
            </a:r>
          </a:p>
        </p:txBody>
      </p: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38500" y="285750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7DBA"/>
            </a:solidFill>
            <a:prstDash val="solid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7381875" y="2143125"/>
            <a:ext cx="1571625" cy="7143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A8B64"/>
            </a:solidFill>
            <a:prstDash val="solid"/>
          </a:ln>
        </p:spPr>
      </p:cxnSp>
      <p:cxnSp>
        <p:nvCxnSpPr>
          <p:cNvPr id="26" name=""/>
          <p:cNvCxnSpPr>
            <a:stCxn xmlns:a="http://schemas.openxmlformats.org/drawingml/2006/main" id="8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381875" y="2857500"/>
            <a:ext cx="1571625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6A12A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096000" y="376237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AA5D8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CB1927-1845-42E6-9CAB-C49BA6D4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7650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06CB6E-4474-44AE-988C-F8140D22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527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87D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7DBA"/>
                </a:solidFill>
                <a:latin typeface="Aptos"/>
                <a:ea typeface="Aptos"/>
                <a:cs typeface="Aptos"/>
              </a:rPr>
              <a:t>HTTPS / REST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E667D9-4A92-4C6E-AF5F-E9433C2B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52625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63DFFA-8813-4885-B19D-9CF133D7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2882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A8B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A8B64"/>
                </a:solidFill>
                <a:latin typeface="Aptos"/>
                <a:ea typeface="Aptos"/>
                <a:cs typeface="Aptos"/>
              </a:rPr>
              <a:t>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B1F5FD-9B38-4994-A2ED-F942D582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048125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67BE7F-62BE-48E8-BFE6-3A2C2DEF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124325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87D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87DBA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D1ACE8-696A-4ED2-8EDD-7A108E32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53125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La clave: React nunca accede directamente a MySQL ni a las credenciales de Google.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E1E1B0-B80A-42AD-B6C8-D4AC221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MediLink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D64FDE-96AD-45D4-B216-273E4BE1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4431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0F6F60-98F7-4D27-AF00-49E6FD90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DB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DBA"/>
                </a:solidFill>
                <a:latin typeface="Aptos"/>
                <a:ea typeface="Aptos"/>
                <a:cs typeface="Aptos"/>
              </a:rPr>
              <a:t>EVALUACIÓN DE HERRAMIENTAS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D6EB4-FAEA-4995-9545-FA759D72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La selección tecnológica prioriza integración, soporte y mantenibilidad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DE5A7-EB94-4DBB-9D92-B9AB0917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82E37-52BF-473E-9BD1-B3307206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057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C4700-B275-4D7E-AA15-363E71DC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35FEB-12CA-4ABB-913F-8AE11DB5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71625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AF00F-5C12-4B9A-A59E-A75CABAC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2402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Seleccionada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2088D-B3A4-4A52-85A0-5ED30172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71625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3B07D-6599-486A-B9C8-FC511A6A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2402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Alternativas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BE06F-68E5-4FB3-AC7C-C949B524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71625"/>
            <a:ext cx="434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00CE2-D11B-4746-9B23-E453FF64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24025"/>
            <a:ext cx="407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Criterio decisivo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5D14A-5066-403F-A632-C06A2E49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057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D5F58-363B-4485-A0EE-A4CD4C51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A3E96-B589-440C-821D-A3CB14E1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47875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CEC6E-00AD-4ECF-A567-40CB1956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288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7DB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DBA"/>
                </a:solidFill>
                <a:latin typeface="Aptos"/>
                <a:ea typeface="Aptos"/>
                <a:cs typeface="Aptos"/>
              </a:rPr>
              <a:t>React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EB089C-C3D4-4386-8103-FC960072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47875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71CD52-33F2-4326-8CCA-E0E6E8A1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2885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Angular · Vue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55BFDD-8A20-41B1-B54E-8DACC1CD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4343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01AEB-81AB-4885-B921-444E6D28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28850"/>
            <a:ext cx="407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Componentes reutilizables y comunidad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042074-3B16-48B6-8E22-1C3DDA7D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2057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E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071D48-BF93-4041-8BE7-2F5CCE8D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EC4D01-C22C-45D3-85F2-7B3602DE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52725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E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89196B-1A1A-4B85-8DDF-BA577C12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337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7DB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DBA"/>
                </a:solidFill>
                <a:latin typeface="Aptos"/>
                <a:ea typeface="Aptos"/>
                <a:cs typeface="Aptos"/>
              </a:rPr>
              <a:t>Node + Express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276C2D-5C04-461E-B1EC-229C8647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52725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E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F6114F-AEBF-4A46-9571-C8116F00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3370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Django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A6730F-1D8C-420E-BD69-C98234CF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52725"/>
            <a:ext cx="4343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E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DCC63C-3205-485C-A1F6-05761663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33700"/>
            <a:ext cx="407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Un solo lenguaje y API REST ligera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5CA5B1-99E4-4CDC-A97F-AD124366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2057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EA2F86-03F7-4A55-B762-2D586ED3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Datos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C9C472-D42D-4AA5-8D66-C31BEE18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57575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56F081-F3FA-4988-AADC-158B480A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385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7DB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DBA"/>
                </a:solidFill>
                <a:latin typeface="Aptos"/>
                <a:ea typeface="Aptos"/>
                <a:cs typeface="Aptos"/>
              </a:rPr>
              <a:t>MySQL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98DF62-578D-4956-81D7-E875E196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57575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6A0858-C6DA-4B8C-9DC0-D0E5F621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3855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PostgreSQL · MongoDB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8B316A-07CD-4600-81E4-C96F6F03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57575"/>
            <a:ext cx="4343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EADA19-C0CA-4C3B-B70D-E186B389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38550"/>
            <a:ext cx="407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Modelo clínico relacional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DB17E8-9BE9-469D-B10D-6F99E10C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2057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E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7791C0-2E65-4961-AED9-A973E25D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Asistente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47D2E6-7A3A-4716-BCA9-D6444306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62425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E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56344A-7549-4BC8-BD03-E44C15CB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434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7DB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DBA"/>
                </a:solidFill>
                <a:latin typeface="Aptos"/>
                <a:ea typeface="Aptos"/>
                <a:cs typeface="Aptos"/>
              </a:rPr>
              <a:t>Dialogflow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87D84A-CD4C-4248-AFC6-1AEBCC93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62425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E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38BFF9-D954-42A6-B30C-10228E94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4340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Rasa · Bot Framework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4483B9-4452-4815-B5CC-4CB57961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62425"/>
            <a:ext cx="4343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E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88556D-1996-4C1E-9D1E-BA75DEAC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43400"/>
            <a:ext cx="407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Español e integración rápida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3DADD6-B277-459D-9D71-64D436C2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2057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377970-AA2C-4990-ABFA-C54C58B1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Método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06436E-EB0D-42FF-8FCA-F008A522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67275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C29D9C-95F0-4921-9974-E20FF61F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482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7DB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87DBA"/>
                </a:solidFill>
                <a:latin typeface="Aptos"/>
                <a:ea typeface="Aptos"/>
                <a:cs typeface="Aptos"/>
              </a:rPr>
              <a:t>Scrum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6FB4EE-4846-4314-ABDA-B636C1A3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67275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5FF4B0-3BB8-4C98-92F9-A7900F2F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04825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Cascada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D915BC-AC69-494F-9443-D23FE449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67275"/>
            <a:ext cx="4343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4C313E-BA5B-4CBA-A35D-22BBD5BC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48250"/>
            <a:ext cx="407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Iteración y adaptación del alcance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8FF5FD-EE3D-4611-B66E-B7BD35AD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86450"/>
            <a:ext cx="4762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FC6D87-58A0-40E2-9622-6FC1333C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962650"/>
            <a:ext cx="453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A8B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A8B64"/>
                </a:solidFill>
                <a:latin typeface="Aptos"/>
                <a:ea typeface="Aptos"/>
                <a:cs typeface="Aptos"/>
              </a:rPr>
              <a:t>Resultado: stack coherente de extremo a extremo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7D7CA2-44D2-4426-BC29-AF624553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MediLink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05D2AE-67F1-41D5-B447-563E7BFB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673837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A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964378-B888-460A-93C1-262E7633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DB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DBA"/>
                </a:solidFill>
                <a:latin typeface="Aptos"/>
                <a:ea typeface="Aptos"/>
                <a:cs typeface="Aptos"/>
              </a:rPr>
              <a:t>GANTT Y CRONOGRAMA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EB840-6704-4E03-B7D4-7391728B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La planificación organiza el desarrollo en 12 semanas y seis sprints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3FA06-4BDA-4AAC-B4E6-3B21D620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9169B-6235-49DA-A46C-31A5EA93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240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S1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D3072-F9F9-44EB-8D1B-62676AB7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9AC8D-07AB-43A2-BB7F-7B69FA99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240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S2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F4FC7-E031-4FD9-B270-71B032F1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4E169-8242-49C7-B1CF-7235E8F1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5240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4098E-39CE-4802-9818-714F840C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C6F4B-A37F-4E7F-88FC-F4574C94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5240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S4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CA5ED-F04A-4E81-92F4-C1902DFC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097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1DD10-E832-492D-8116-EFD92C12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240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S5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AD64C-4908-490A-ACD7-DF2BC773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B6BCC-DFB4-4409-AC61-583E1833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S6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D5701-2D5C-4360-A774-789C8B97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24C1E-980E-444E-9C81-0BED6DA7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5240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S7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11AAA-9689-41BC-926C-D95AE703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097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2DB8BE-3110-44F2-9874-C501CB8F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240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S8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E4037-91BE-412F-991D-44DFEA2E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BE5E22-6578-42F2-BD1E-250B3018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S9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F54FD9-48B1-41B7-9C27-1E1E9545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673DAA-0927-4BF4-A995-7393C14E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5240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S10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A2F71F-2EBC-4ABF-A1B3-43336771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097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632443-F385-446A-9903-996F2EC5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240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S11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A34B40-E3BE-4F9E-8710-030DD267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097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9E0B51-F902-4C24-9405-61A4F42C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5240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S12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6A52E2-D648-416D-ABFD-BC763577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8097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154AA5-7F3A-417E-BBFE-7B027991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A5E"/>
                </a:solidFill>
                <a:latin typeface="Aptos"/>
                <a:ea typeface="Aptos"/>
                <a:cs typeface="Aptos"/>
              </a:rPr>
              <a:t>Análisis y alcance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32EE46-CA13-4EB0-BC37-AA9F163D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943100"/>
            <a:ext cx="1162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1CE3CC-573B-4D8E-ACE4-1A286450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A5E"/>
                </a:solidFill>
                <a:latin typeface="Aptos"/>
                <a:ea typeface="Aptos"/>
                <a:cs typeface="Aptos"/>
              </a:rPr>
              <a:t>Diseño y entorno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B41F1F-F1A7-4A47-8791-D81B72B6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352675"/>
            <a:ext cx="1162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A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458BDC-2EC2-45DC-9AAE-29C37BA7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A5E"/>
                </a:solidFill>
                <a:latin typeface="Aptos"/>
                <a:ea typeface="Aptos"/>
                <a:cs typeface="Aptos"/>
              </a:rPr>
              <a:t>Autenticación y perfil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A7E878-5FF7-4D00-8D70-FE28AB9C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762250"/>
            <a:ext cx="1162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70F9CA-3308-4856-B8E2-9A0FD8DA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A5E"/>
                </a:solidFill>
                <a:latin typeface="Aptos"/>
                <a:ea typeface="Aptos"/>
                <a:cs typeface="Aptos"/>
              </a:rPr>
              <a:t>Reserva de citas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EFBC99-D6F6-43C4-9122-0D0107D6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171825"/>
            <a:ext cx="1162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C1A897-8C52-477D-A946-8838871A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A5E"/>
                </a:solidFill>
                <a:latin typeface="Aptos"/>
                <a:ea typeface="Aptos"/>
                <a:cs typeface="Aptos"/>
              </a:rPr>
              <a:t>Historial y recetas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E92D69-FD11-4E83-9F47-F08C95F6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581400"/>
            <a:ext cx="1162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8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A9A7A0-4FCD-45F0-AB99-EC8A66E2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A5E"/>
                </a:solidFill>
                <a:latin typeface="Aptos"/>
                <a:ea typeface="Aptos"/>
                <a:cs typeface="Aptos"/>
              </a:rPr>
              <a:t>Chatbot y notificaciones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DC9F71-F66C-4CF7-A8F9-345C2548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90975"/>
            <a:ext cx="1162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8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A592C4-B841-49CC-9368-F93544E8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A5E"/>
                </a:solidFill>
                <a:latin typeface="Aptos"/>
                <a:ea typeface="Aptos"/>
                <a:cs typeface="Aptos"/>
              </a:rPr>
              <a:t>Administración prevista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5811F6-A88C-469F-A706-7D7701CE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400550"/>
            <a:ext cx="1162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C1D2CA-9784-47A6-A758-668E6AFE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Pruebas y correcciones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8F610A-172C-4D13-859C-B8492661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810125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3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DE8315-E3D0-4B69-AE82-44074AD1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Documentación y entrega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B8BF6B-28AA-4183-B9AB-88B83E58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219700"/>
            <a:ext cx="1790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136DF8-4A63-4B8A-80B5-FFADEBDC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67375"/>
            <a:ext cx="754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0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66A82E-975F-4FF7-A814-85F27C11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8B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A8B64"/>
                </a:solidFill>
                <a:latin typeface="Aptos"/>
                <a:ea typeface="Aptos"/>
                <a:cs typeface="Aptos"/>
              </a:rPr>
              <a:t>Avance demostrado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B2CA09-1708-4F93-A782-BED9789E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72150"/>
            <a:ext cx="857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Perfil paciente funcional: autenticación, citas, historial, PDFs, notificaciones y asistente.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F6B27F-0BAE-4B24-8D4E-8E81E84D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MediLink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0A196B-00CE-40A1-8C1B-40F70A28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125568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2B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44C72B-3525-460D-A147-A76B5D45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C8E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CC8EC"/>
                </a:solidFill>
                <a:latin typeface="Aptos"/>
                <a:ea typeface="Aptos"/>
                <a:cs typeface="Aptos"/>
              </a:rPr>
              <a:t>DEMO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4BC7D-60D4-4A60-A6E2-81CDE1DC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628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Panel principal del paciente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756F0-E26D-483A-907B-DD0497DD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666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EE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7DEED"/>
                </a:solidFill>
                <a:latin typeface="Aptos"/>
                <a:ea typeface="Aptos"/>
                <a:cs typeface="Aptos"/>
              </a:rPr>
              <a:t>Acceso rápido al recorrido completo y próximas citas.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2FFDE-7C6A-4479-AC8C-1FDCD077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096250" cy="42862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9F73C-9076-4C34-8197-5AE48D84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096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9CBF6-7030-4C14-801F-06026F65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94D9C-2F0F-4C1B-94DB-BA5E2D21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19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6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712B6-3EE1-4D1B-9036-ACD6531C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19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A670C-1945-4467-AE8D-5C2D88F2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19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B8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3e4822966426a"/>
          <a:srcRect xmlns:a="http://schemas.openxmlformats.org/drawingml/2006/main" l="0" t="8274" r="0" b="82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9300"/>
            <a:ext cx="7943850" cy="3905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35589-FDFB-438B-91C3-B3DC4264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52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8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2B9CE-9843-425D-9D3A-090C42AD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669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065E1-8E22-4D86-BE6B-DC94FCA5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52625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Sesión protegida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A81FD-98DC-40AF-91B1-63E6483F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25742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D9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FD9EB"/>
                </a:solidFill>
                <a:latin typeface="Aptos"/>
                <a:ea typeface="Aptos"/>
                <a:cs typeface="Aptos"/>
              </a:rPr>
              <a:t>JWT y perfil paciente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1BA96-EC88-4AB3-8CAE-EC2F6A0E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8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1A03D-FF79-442C-AA1F-2252A018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5755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AB8DC-8DDD-4678-9FDC-9E2AC019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4325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Navegación centralizada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0881A-53F0-4908-AEC2-C9D3C541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480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D9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FD9EB"/>
                </a:solidFill>
                <a:latin typeface="Aptos"/>
                <a:ea typeface="Aptos"/>
                <a:cs typeface="Aptos"/>
              </a:rPr>
              <a:t>Citas, historial e 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73770-2A29-4851-9768-9D8AC2A5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3387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8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7731F-2A23-4781-BE73-DD77C1A2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481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573D1D-6BD0-40E3-B4FF-A3717BCE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33875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Información útil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BC243-7ED0-4ED2-8CF0-445726ED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3867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D9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FD9EB"/>
                </a:solidFill>
                <a:latin typeface="Aptos"/>
                <a:ea typeface="Aptos"/>
                <a:cs typeface="Aptos"/>
              </a:rPr>
              <a:t>Próximas citas visibles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07EF6-F7CF-4A73-8F12-63E30CD0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Captura real · localhost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97EF27-06E7-4663-8487-71CD8B1D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222230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D546D0-FC77-450A-9AA8-F3BEEC9C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DB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DBA"/>
                </a:solidFill>
                <a:latin typeface="Aptos"/>
                <a:ea typeface="Aptos"/>
                <a:cs typeface="Aptos"/>
              </a:rPr>
              <a:t>DEMO 02 · GESTIÓN DE CITAS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AC5D1-2EE1-4B1B-8C4C-488CED96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Reservar, cancelar y reprogramar sin intervención administrativa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08D51-46AA-4602-9267-63342C4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F1F90-CB53-43E7-AEDE-BB358FAD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620000" cy="42862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8E47A-5B8B-4C73-8B44-4A0A2F54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620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058FA-3449-4349-8AF6-AD40966B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62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8B381-3222-4E84-8098-2CFC97E4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6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93322-358B-402C-A3C4-62D3A841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00D78-38EF-4472-A87A-C0E1C074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724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B8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8d6f627434f6a"/>
          <a:srcRect xmlns:a="http://schemas.openxmlformats.org/drawingml/2006/main" l="0" t="2834" r="0" b="28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24050"/>
            <a:ext cx="7467600" cy="3905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EEEA6-BD41-4FF4-9A67-FDBBCD7E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62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55A06-461E-4F7F-B58B-EF6A7518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764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EC60B-2B0C-4ECD-A2EC-6084142B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52600"/>
            <a:ext cx="209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Consulta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AA362-B1E9-40B5-BE9C-2F1A3F0E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5740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Médico, especialidad, fecha, hora y motivo.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4DC5C-045E-46C9-ADE4-8ACE1F13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48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04BBA2-934A-4D84-9EC1-6A91AEE2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623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87F1B0-6876-4399-89AC-0B9256C4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38475"/>
            <a:ext cx="209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E30B1-15E7-42F8-8F0F-9D956436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432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Estados visibles y confirmaciones integradas.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FB4224-6685-4FE3-B743-6BE37E1D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3387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8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7768D-9848-49EB-9CDB-D3D5D661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481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7E86BA-89DB-4092-9E74-12ED1BE5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24350"/>
            <a:ext cx="209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Cambio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B0C9E9-FFAE-4B0A-AE15-89B4CA3F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2915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Reprogramación según disponibilidad real.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14C661-22CD-4707-9D78-187FAEBA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Captura real · módulo Mis citas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ADF856-2519-44E0-83C4-50DB8D50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390856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A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EDEFC8-9BC9-4B2A-BACF-ACE1F3F0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DB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DBA"/>
                </a:solidFill>
                <a:latin typeface="Aptos"/>
                <a:ea typeface="Aptos"/>
                <a:cs typeface="Aptos"/>
              </a:rPr>
              <a:t>DEMO 03 · PERFIL Y SEGURIDAD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47830-03F1-4977-A416-53C495CE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El paciente actualiza datos de contacto sin alterar su identidad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2E6AC-A7A9-44EE-862C-5E67AA2E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14C58-C798-4E1D-9C0F-7F76E0EE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524750" cy="4333875"/>
          </a:xfrm>
          <a:prstGeom xmlns:a="http://schemas.openxmlformats.org/drawingml/2006/main" prst="roundRect">
            <a:avLst>
              <a:gd name="adj" fmla="val 3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BE2E7-2F5B-401F-A05B-60809151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524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27BFD-B1B3-4E7A-B0DA-CF6B0B9E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524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FD7D1-0EAB-40CF-BCF6-3D0705CA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24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6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B8A84-8989-4714-B1DC-4E87C6AF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1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54AD5-9FD8-418E-B464-B6251F81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724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B8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db9e3ab6841bb"/>
          <a:srcRect xmlns:a="http://schemas.openxmlformats.org/drawingml/2006/main" l="0" t="1886" r="0" b="18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24050"/>
            <a:ext cx="7372350" cy="39528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4CE78-51E1-46FF-95D8-364A6C45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95275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B8DE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3208B-1BEB-4078-B687-1BE1F0A2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0025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8B6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8B64"/>
                </a:solidFill>
                <a:latin typeface="Aptos"/>
                <a:ea typeface="Aptos"/>
                <a:cs typeface="Aptos"/>
              </a:rPr>
              <a:t>Editable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46B48-A3DF-4F0F-9363-F7B4ABF4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28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8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8159C-F6E3-447F-89FF-27B0B4F4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622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Correo electrónico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0749EB-1466-4978-BB25-49B0A5E9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09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8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711E7-60A0-40C8-BE7C-214867BC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432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Teléfono celular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42A604-3BDE-4609-B337-826E6134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90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8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8909A-9A62-4626-8219-4454D891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2420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Dirección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3EA1A5-15D3-462B-920B-FF82A91E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295275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DEBED"/>
          </a:solidFill>
          <a:ln xmlns:a="http://schemas.openxmlformats.org/drawingml/2006/main" w="9525">
            <a:solidFill>
              <a:srgbClr val="F0C1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CBEFF7-0DE6-49FD-85B7-5F7E721F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0050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B3B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B3B46"/>
                </a:solidFill>
                <a:latin typeface="Aptos"/>
                <a:ea typeface="Aptos"/>
                <a:cs typeface="Aptos"/>
              </a:rPr>
              <a:t>Protegido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F80BD9-F68C-4660-9FCD-BE3370D7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67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3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646B03-436B-427A-AE1E-4008F7F5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0055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Nombres y apellidos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0F043-496D-4B2F-A594-3F198B46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848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3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EECCED-8A26-4A16-8E47-D5AB2A05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78155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DNI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DB748D-64AF-49F6-91CD-646B1D03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229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3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0A6AF5-30EB-4CC6-88E7-255038B4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16255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Fecha de nacimiento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63E3DA-7A3F-4071-82E6-815310AD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Protección aplicada en interfaz y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3563D6-219E-4744-B0CA-3BC7EE98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216317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2B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AA7BE7-538E-4B97-A2EC-77DEBE40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CC8E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CC8EC"/>
                </a:solidFill>
                <a:latin typeface="Aptos"/>
                <a:ea typeface="Aptos"/>
                <a:cs typeface="Aptos"/>
              </a:rPr>
              <a:t>CONCLUSIONES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054FE-9D85-45D3-B23A-0AFB4810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28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MediLink demuestra que el recorrido del paciente puede digitalizarse de extremo a extremo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ADE04-4A8A-437F-B4D8-13187E0D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381375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3B60"/>
          </a:solidFill>
          <a:ln xmlns:a="http://schemas.openxmlformats.org/drawingml/2006/main" w="9525">
            <a:solidFill>
              <a:srgbClr val="315C7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70517-B691-4C16-B168-1D718C57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0B9E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0B9E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B1FB9-5C58-43C0-B687-8B414AA5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Funcionalidad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F2739-1965-47ED-A1B7-59B98B14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E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EED"/>
                </a:solidFill>
                <a:latin typeface="Aptos"/>
                <a:ea typeface="Aptos"/>
                <a:cs typeface="Aptos"/>
              </a:rPr>
              <a:t>El perfil paciente integra cuenta, citas, historial, documentos, avisos y asistente.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2E542-D48C-4961-92C0-0149C0A1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3381375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3B60"/>
          </a:solidFill>
          <a:ln xmlns:a="http://schemas.openxmlformats.org/drawingml/2006/main" w="9525">
            <a:solidFill>
              <a:srgbClr val="315C7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447AB-506F-46E9-8F01-49FF4000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0985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0B9E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0B9E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3CF40-870B-439B-B1F6-C4E1EE3D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Arquitectura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2DE9C-72AD-45D3-93F9-4478CFB6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1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E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EED"/>
                </a:solidFill>
                <a:latin typeface="Aptos"/>
                <a:ea typeface="Aptos"/>
                <a:cs typeface="Aptos"/>
              </a:rPr>
              <a:t>La separación React–Express–MySQL facilita seguridad, mantenimiento y expansión.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42B46-7FF7-4E28-8486-31460CD9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3381375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3B60"/>
          </a:solidFill>
          <a:ln xmlns:a="http://schemas.openxmlformats.org/drawingml/2006/main" w="9525">
            <a:solidFill>
              <a:srgbClr val="315C7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D8156-815C-4B91-8935-EC2A8E4E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985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0B9E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0B9E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D62CF-D10B-436E-AC67-D678F557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Experiencia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B1DE1-5C75-4233-8894-62F98B6A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71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EE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EED"/>
                </a:solidFill>
                <a:latin typeface="Aptos"/>
                <a:ea typeface="Aptos"/>
                <a:cs typeface="Aptos"/>
              </a:rPr>
              <a:t>La autonomía del paciente reduce gestiones manuales y mejora la trazabilidad.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4036B-C196-4412-9B9A-C5D01AD6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81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C34B4-AFE4-44E2-B5DF-4A073A75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CC8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CC8EC"/>
                </a:solidFill>
                <a:latin typeface="Aptos"/>
                <a:ea typeface="Aptos"/>
                <a:cs typeface="Aptos"/>
              </a:rPr>
              <a:t>Recomendación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F88A84-4F2E-4D92-A879-93F34028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05425"/>
            <a:ext cx="8763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Continuar con los perfiles médico y administrador, pruebas con usuarios reales y despliegue seguro en la nube.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7401A2-E30A-45B5-957E-72524CB7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CC8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CC8EC"/>
                </a:solidFill>
                <a:latin typeface="Aptos"/>
                <a:ea typeface="Aptos"/>
                <a:cs typeface="Aptos"/>
              </a:rPr>
              <a:t>Gracias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0D5966-6A58-4186-8B12-5DC78794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MediLink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74173E-BB91-4FA1-9283-F9D10F1E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61690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FBDFF6-61D0-40B3-9D31-2F9C8E0F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DB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DBA"/>
                </a:solidFill>
                <a:latin typeface="Aptos"/>
                <a:ea typeface="Aptos"/>
                <a:cs typeface="Aptos"/>
              </a:rPr>
              <a:t>ANEXO A · ISHIKAWA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B86D0-FB83-44F8-B1AC-71D05D60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Causas de una gestión médica manual y poco integrada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CD576-771B-4CDD-BCBD-CEA7600F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70655-8297-4DA6-82CE-8D618FCF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19500"/>
            <a:ext cx="72866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43B7D-3FC9-4000-A103-61692D29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23812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DEBED"/>
          </a:solidFill>
          <a:ln xmlns:a="http://schemas.openxmlformats.org/drawingml/2006/main" w="9525">
            <a:solidFill>
              <a:srgbClr val="F0C1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1413E-054B-45AE-BB3E-34D7BC64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71850"/>
            <a:ext cx="1905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B3B4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B3B46"/>
                </a:solidFill>
                <a:latin typeface="Aptos"/>
                <a:ea typeface="Aptos"/>
                <a:cs typeface="Aptos"/>
              </a:rPr>
              <a:t>Gestión de atención</a:t>
            </a:r>
          </a:p>
          <a:p xmlns:a="http://schemas.openxmlformats.org/drawingml/2006/main">
            <a:pPr algn="ctr">
              <a:defRPr sz="1425" b="1">
                <a:solidFill>
                  <a:srgbClr val="CB3B4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B3B46"/>
                </a:solidFill>
                <a:latin typeface="Aptos"/>
                <a:ea typeface="Aptos"/>
                <a:cs typeface="Aptos"/>
              </a:rPr>
              <a:t>ineficiente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76426-310F-4D16-834B-7D4606EF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905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56642-5356-4084-B6A7-7227D12F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Personas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122A9-D6E9-4ABC-A31B-2CB56764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38375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Capacitación limitada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CA921-5572-42DF-AC3C-6377507E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90800"/>
            <a:ext cx="3810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A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E632D-1638-4B70-A5D6-DFE7CC1E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1905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C9402-A23D-46D4-83C0-80EC3689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52625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Métodos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2BB13-8121-421D-BF38-D3A489D9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38375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Reservas por llamada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A996E-E6A4-4DE1-9933-2C2109D1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90800"/>
            <a:ext cx="3810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A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A9B2E-5366-41F2-B2C9-BEC16E16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1905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11A52-E65A-4991-B993-696DFF3B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52625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Tecnología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AE8F98-59D4-44C4-BE7C-048B10EF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38375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Sistemas aislados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E629C-87C7-4D26-A1F3-598FD387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90800"/>
            <a:ext cx="3810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A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617E41-0D35-4636-AA34-3A157A39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676650"/>
            <a:ext cx="38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A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42B27-6616-442F-ADD0-4C742D1F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76750"/>
            <a:ext cx="1905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5FAFE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631E66-E5BD-45AD-BD94-B05E01F9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619625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Información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71F84-A335-4FF5-915C-DE0040FC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905375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Historial disperso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5BC603-A24E-4936-A64C-55C1EFCF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676650"/>
            <a:ext cx="38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A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D11259-99FF-4AFC-81F8-73693210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76750"/>
            <a:ext cx="1905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5FAFE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367836-5410-4BF7-B25F-7E9DF711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619625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Comunicación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95E30D-EA55-4546-BBD6-6CAA9827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905375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Sin orientación digital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0DB882-1FA5-48B8-A770-9E7B5699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676650"/>
            <a:ext cx="38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A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DC6F33-74AD-49EA-936A-FEEB8CB1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76750"/>
            <a:ext cx="1905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5FAFE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F43630-1DAE-4AB6-ACC9-E13BBF9E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19625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Administración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0E1AB1-C57E-41D9-AE41-B2E4B1FA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905375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Reportes manuales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B3475C-710D-4C2D-9BE9-F08CFB44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Fuente: elaboración propia basada en capítulo 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1C7CC0-0505-4D7A-929E-59250B6D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688520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A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B34EC7-FCE4-4308-A5DE-FCF5A1B1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DB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DBA"/>
                </a:solidFill>
                <a:latin typeface="Aptos"/>
                <a:ea typeface="Aptos"/>
                <a:cs typeface="Aptos"/>
              </a:rPr>
              <a:t>ANEXO B · MODELO 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3A5C4-99B8-4A0E-BA65-0BE99AE3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El modelo relacional conserva trazabilidad entre usuario, cita y atención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02688-6F43-4C80-9899-936F1D8C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A1CE7-5E8B-4D27-AA48-10195864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381125"/>
            <a:ext cx="247650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0636A-BC04-493D-BDC3-A7E1C8B2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381125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1DF52-1EA7-407D-827C-CB27D17A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543050"/>
            <a:ext cx="2152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USUARIOS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0C2D7-0541-4E7E-85DB-B757BE0A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847850"/>
            <a:ext cx="21526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PK id_usuario</a:t>
            </a:r>
          </a:p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rol · correo · DNI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5F8E0-51B5-47E6-AFF1-73A8534A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42887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6290F-EB1F-49FD-AAFF-7C15F828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92F8F-9D0F-46D0-AE0E-4D025952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19425"/>
            <a:ext cx="21050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PACIENTES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1EBA0-AC01-4CD1-A300-CD161BD6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24225"/>
            <a:ext cx="2105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FK id_usuario</a:t>
            </a:r>
          </a:p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fecha_nacimiento · dirección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2945FC-82FB-4E4A-82E9-8B4E9D4D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57500"/>
            <a:ext cx="242887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C8286-C7A4-462B-B890-8993B82D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57500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F3B8D-9EBC-4BC1-AF3A-D38AC7E9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19425"/>
            <a:ext cx="21050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MÉDICOS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E9E72-49A9-4E55-97EA-0BE60170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24225"/>
            <a:ext cx="2105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FK id_usuario · especialidad</a:t>
            </a:r>
          </a:p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CMP · horario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0A464-DA2B-473D-B682-FDB233E8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476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3E720-76C9-43B4-A0BE-06F1B455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66675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8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8D2CC-4680-485E-AE20-886EDDF7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209925"/>
            <a:ext cx="2152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CITAS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016309-7357-4B8C-985D-455240D1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514725"/>
            <a:ext cx="21526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FK paciente · médico</a:t>
            </a:r>
          </a:p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fecha · hora · estado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263221-A4A3-4C53-8638-5DD0563C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05375"/>
            <a:ext cx="2476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83F51-9EF1-426F-9C74-83C65EC3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05375"/>
            <a:ext cx="66675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1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D554CE-E24D-4CBF-B826-27438E32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067300"/>
            <a:ext cx="2152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HISTORIAL MÉDICO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5EE250-6D1F-48F6-86C1-4E160F6D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372100"/>
            <a:ext cx="21526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FK paciente · médico · cita</a:t>
            </a:r>
          </a:p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diagnóstico · observaciones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A9AAED-A4D8-474D-AB24-AFA2B75A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53000"/>
            <a:ext cx="23812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C1C4F-54AE-43F1-A73D-C1C1BE42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53000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A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FAB148-0BC2-49A2-AA7C-49013520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114925"/>
            <a:ext cx="2057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RECETAS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749832-E50A-44B0-983F-92AD4D17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419725"/>
            <a:ext cx="2057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FK historial</a:t>
            </a:r>
          </a:p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medicamento · indicación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22E76E-9AD9-4092-BA17-56852BAB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23812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A7DB0B-2084-4B89-B794-390FAD87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A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D53E88-0BE6-4B95-96AB-0FBE7A09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14925"/>
            <a:ext cx="2057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RESULTADOS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4592CC-35F9-4DDE-86E0-DAB46B61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419725"/>
            <a:ext cx="2057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FK paciente</a:t>
            </a:r>
          </a:p>
          <a:p xmlns:a="http://schemas.openxmlformats.org/drawingml/2006/main">
            <a:pPr algn="l">
              <a:defRPr sz="97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examen · resultado · estado</a:t>
            </a:r>
          </a:p>
        </p:txBody>
      </p:sp>
      <p:cxnSp>
        <p:nvCxnSpPr>
          <p:cNvPr id="32" name=""/>
          <p:cNvCxnSpPr>
            <a:stCxn xmlns:a="http://schemas.openxmlformats.org/drawingml/2006/main" id="4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381375" y="1881188"/>
            <a:ext cx="1238250" cy="150018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7DBA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4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096125" y="1881188"/>
            <a:ext cx="1714500" cy="150018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7DBA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81375" y="3381375"/>
            <a:ext cx="1238250" cy="2143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7DBA"/>
            </a:solidFill>
            <a:prstDash val="solid"/>
          </a:ln>
        </p:spPr>
      </p:cxnSp>
      <p:cxnSp>
        <p:nvCxnSpPr>
          <p:cNvPr id="35" name=""/>
          <p:cNvCxnSpPr>
            <a:stCxn xmlns:a="http://schemas.openxmlformats.org/drawingml/2006/main" id="12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7096125" y="3381375"/>
            <a:ext cx="1714500" cy="2143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7DBA"/>
            </a:solidFill>
            <a:prstDash val="solid"/>
          </a:ln>
        </p:spPr>
      </p:cxnSp>
      <p:cxnSp>
        <p:nvCxnSpPr>
          <p:cNvPr id="36" name=""/>
          <p:cNvCxnSpPr>
            <a:stCxn xmlns:a="http://schemas.openxmlformats.org/drawingml/2006/main" id="16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5857875" y="4143375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A8B64"/>
            </a:solidFill>
            <a:prstDash val="solid"/>
          </a:ln>
        </p:spPr>
      </p:cxnSp>
      <p:cxnSp>
        <p:nvCxnSpPr>
          <p:cNvPr id="37" name=""/>
          <p:cNvCxnSpPr>
            <a:stCxn xmlns:a="http://schemas.openxmlformats.org/drawingml/2006/main" id="20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3762375" y="54530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6A12A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3381375" y="3381375"/>
            <a:ext cx="5000625" cy="207168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AA5D8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40FA29-C5A6-415E-BB53-B3E4CB61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Vista simplificada del ERD completo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C9A28A-F1A6-4200-8BCC-999F9DA7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90095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D7B642-B312-4370-8AB8-E4930A86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DB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87DBA"/>
                </a:solidFill>
                <a:latin typeface="Aptos"/>
                <a:ea typeface="Aptos"/>
                <a:cs typeface="Aptos"/>
              </a:rPr>
              <a:t>ANEXO C · ÉPICAS Y PROCESOS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C36FF-EF18-4E3C-8AD2-25B77277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Casos de uso y proceso principal del perfil paciente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572C2-A481-407E-A943-F82E7612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52093-5F5E-4808-BD43-73290265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905250" cy="44767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5FAFE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48758-22EA-4420-8B6C-D150366B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57375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Actor: Paciente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FB975-8760-4FD5-BE27-69385A7B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32385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48331-619E-46DB-B8C5-0EE230AF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905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Registrarse e iniciar sesión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16C08-18B4-490D-BEF6-F1BFD957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32385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9A368-5682-43C0-B96D-03B82225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19425"/>
            <a:ext cx="2905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Gestionar datos de contacto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717F7-140C-4B00-942C-E9F9514F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32385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58E01-2264-4725-9C90-DB936E44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2905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A5E"/>
                </a:solidFill>
                <a:latin typeface="Aptos"/>
                <a:ea typeface="Aptos"/>
                <a:cs typeface="Aptos"/>
              </a:rPr>
              <a:t>Reservar / reprogramar cita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76921-AED0-4DBD-83E7-0F7A3D68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90975"/>
            <a:ext cx="32385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390AB-8ECB-4A45-82CA-0A6480FC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2905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A5E"/>
                </a:solidFill>
                <a:latin typeface="Aptos"/>
                <a:ea typeface="Aptos"/>
                <a:cs typeface="Aptos"/>
              </a:rPr>
              <a:t>Consultar historial y PDFs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62295-86D3-4AF4-B185-60A1A070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32385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586A4-F359-441C-83DF-81D69028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2905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Recibir notificaciones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F9D90-D02E-4224-A274-C385AED8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76825"/>
            <a:ext cx="32385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F5955-D330-49C5-A05D-23E198EA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91125"/>
            <a:ext cx="2905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A5E"/>
                </a:solidFill>
                <a:latin typeface="Aptos"/>
                <a:ea typeface="Aptos"/>
                <a:cs typeface="Aptos"/>
              </a:rPr>
              <a:t>Consultar al asistente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9F69D-7252-450D-BDB5-39011DA6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1450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B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B4F"/>
                </a:solidFill>
                <a:latin typeface="Aptos"/>
                <a:ea typeface="Aptos"/>
                <a:cs typeface="Aptos"/>
              </a:rPr>
              <a:t>Proceso de reserva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994DB-79E7-4221-94DF-29E7AE79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3837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2F7364-1C50-4100-90FC-9CEF948B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526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65669A-D187-4405-8E96-7E328753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362200"/>
            <a:ext cx="2238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A5E"/>
                </a:solidFill>
                <a:latin typeface="Aptos"/>
                <a:ea typeface="Aptos"/>
                <a:cs typeface="Aptos"/>
              </a:rPr>
              <a:t>Elegir especialidad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ADD2E8-F4C6-401F-AC33-B64356D7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86075"/>
            <a:ext cx="209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AA5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AA5D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813E47-BF4C-4BC9-9C16-981B87B0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3837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7D66B-29EC-41A2-82ED-57673351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526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BFF090-4D42-42B1-B143-48DF8713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62200"/>
            <a:ext cx="2238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A5E"/>
                </a:solidFill>
                <a:latin typeface="Aptos"/>
                <a:ea typeface="Aptos"/>
                <a:cs typeface="Aptos"/>
              </a:rPr>
              <a:t>Seleccionar médico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4F0F84-DDD2-459F-88C2-FBC2CA72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86075"/>
            <a:ext cx="209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AA5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AA5D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33FCF6-82D0-482D-9591-A688E39D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29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0C6ADC-DBC9-4195-9E65-E2CDC1B6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5433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640D0B-9EE7-4B7D-888B-F3300A8C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552825"/>
            <a:ext cx="2238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A5E"/>
                </a:solidFill>
                <a:latin typeface="Aptos"/>
                <a:ea typeface="Aptos"/>
                <a:cs typeface="Aptos"/>
              </a:rPr>
              <a:t>Consultar horarios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945172-A536-4655-BA72-B8E7BA5B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76700"/>
            <a:ext cx="209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AA5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AA5D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978DD5-B16D-4559-95E8-F6844417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29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9E867E-FB9E-4B80-9F20-C2873AED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43300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CFF708-5923-4E92-B960-9B7CFFAD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552825"/>
            <a:ext cx="2238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A5E"/>
                </a:solidFill>
                <a:latin typeface="Aptos"/>
                <a:ea typeface="Aptos"/>
                <a:cs typeface="Aptos"/>
              </a:rPr>
              <a:t>Registrar motivo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1DF6FC-2BD5-46F7-B7E5-E6525E29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76700"/>
            <a:ext cx="209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AA5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AA5D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FDF396-75CD-4B1E-91BB-E92A734F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619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A1A047-CF28-4D7D-9D43-F3942AD9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7339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18C31F-0DF9-4572-BB52-FF1FADCA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743450"/>
            <a:ext cx="2238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A5E"/>
                </a:solidFill>
                <a:latin typeface="Aptos"/>
                <a:ea typeface="Aptos"/>
                <a:cs typeface="Aptos"/>
              </a:rPr>
              <a:t>Confirmar cita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A183CF-2E12-4B74-AF28-95344A09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67325"/>
            <a:ext cx="209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AA5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AA5D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4661C4-8C12-4B9B-8257-BC5073D4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19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8B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B56F3F-F7E6-4844-9CEF-66B11ED1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339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29B2CA-BA5B-4317-BC80-B3938AEE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743450"/>
            <a:ext cx="2238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A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A5E"/>
                </a:solidFill>
                <a:latin typeface="Aptos"/>
                <a:ea typeface="Aptos"/>
                <a:cs typeface="Aptos"/>
              </a:rPr>
              <a:t>Generar notificación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44A858-9B59-4588-9B67-E6EA9F17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429250"/>
            <a:ext cx="6000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B8DEC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2D4CA1-E694-483A-9D2D-AAAB973E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600700"/>
            <a:ext cx="561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8B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A8B64"/>
                </a:solidFill>
                <a:latin typeface="Aptos"/>
                <a:ea typeface="Aptos"/>
                <a:cs typeface="Aptos"/>
              </a:rPr>
              <a:t>Validaciones: disponibilidad, cita futura, no duplicidad y paciente autenticado.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E0C8BC-560B-4A9A-8709-EC0861F1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7D99"/>
                </a:solidFill>
                <a:latin typeface="Aptos"/>
                <a:ea typeface="Aptos"/>
                <a:cs typeface="Aptos"/>
              </a:rPr>
              <a:t>MediLink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B069D5-66BC-4B3D-BE8D-E5E5AE11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37D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7D99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41788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2026-06-10T04:54:23.0510000Z</dcterms:created>
  <dcterms:modified xsi:type="dcterms:W3CDTF">2026-06-10T04:54:23.0510000Z</dcterms:modified>
</coreProperties>
</file>